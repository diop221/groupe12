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1723177-887F-4E73-B661-718609CAA731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configuration de la référence.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configuration de la copie corrections.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accueil DVWA.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niveau low.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T01 - résultat de l'injection SQL.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Captures : T02 vrai et faux.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T03 - marqueur renvoyé par le shell.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T04 - exécution du script réfléchi.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T05 - contenu stocké visible dans une autre session.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T06 - capture de l'essai DOM.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T07 - changement de mot de passe.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T08 - contenu de robots.txt inclus.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T09 - téléversement du fichier PHP.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T10 - troisième essai d'authentification.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T11a - décodage XOR observé.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 Capture : T11b - recomposition de blocs acceptée.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 : C:\Users\ASUS\Documents\Codex\2026-09-15\je\outputs\Etude_et_implementation_des_attaques_web_avec_contre-mesures.docx. Style adapté de C:/Users/ASUS/Downloads/Chapitre_01.ppt  -  Mode de compatibilité.pdf.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7"/>
          <p:cNvPicPr/>
          <p:nvPr/>
        </p:nvPicPr>
        <p:blipFill>
          <a:blip r:embed="rId1"/>
          <a:srcRect l="9536" t="0" r="9536" b="0"/>
          <a:stretch/>
        </p:blipFill>
        <p:spPr>
          <a:xfrm>
            <a:off x="7334280" y="0"/>
            <a:ext cx="18093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8"/>
          <p:cNvPicPr/>
          <p:nvPr/>
        </p:nvPicPr>
        <p:blipFill>
          <a:blip r:embed="rId2"/>
          <a:stretch/>
        </p:blipFill>
        <p:spPr>
          <a:xfrm>
            <a:off x="461880" y="619200"/>
            <a:ext cx="2123640" cy="119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Rectangle 2"/>
          <p:cNvSpPr/>
          <p:nvPr/>
        </p:nvSpPr>
        <p:spPr>
          <a:xfrm>
            <a:off x="461880" y="2243160"/>
            <a:ext cx="660060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360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Calibri"/>
              </a:rPr>
              <a:t>ÉTUDE ET IMPLÉMENTATION DES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360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Calibri"/>
              </a:rPr>
              <a:t>ATTAQUES WEB ET CONTRE-MESURES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762120" y="4181400"/>
            <a:ext cx="6000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85000" lnSpcReduction="9999"/>
          </a:bodyPr>
          <a:p>
            <a:pPr algn="ctr" defTabSz="914400">
              <a:lnSpc>
                <a:spcPct val="100000"/>
              </a:lnSpc>
            </a:pPr>
            <a:r>
              <a:rPr lang="fr-FR" sz="1729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Module : Cryptographie                                                                 Master :SSI/ISI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4"/>
          <p:cNvSpPr/>
          <p:nvPr/>
        </p:nvSpPr>
        <p:spPr>
          <a:xfrm>
            <a:off x="2095560" y="4429080"/>
            <a:ext cx="42858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85000" lnSpcReduction="9999"/>
          </a:bodyPr>
          <a:p>
            <a:endParaRPr lang="fr-FR" sz="165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7" name="Rectangle 5"/>
          <p:cNvSpPr/>
          <p:nvPr/>
        </p:nvSpPr>
        <p:spPr>
          <a:xfrm>
            <a:off x="857160" y="5038560"/>
            <a:ext cx="6000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600" b="1" u="none" strike="noStrike">
                <a:solidFill>
                  <a:srgbClr val="111111"/>
                </a:solidFill>
                <a:effectLst/>
                <a:uFillTx/>
                <a:latin typeface="Times New Roman"/>
                <a:ea typeface="Calibri"/>
              </a:rPr>
              <a:t>Mamadou Diop | Diembi Daniel Emmanuel | Vicent Mactar Senghor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angle 6"/>
          <p:cNvSpPr/>
          <p:nvPr/>
        </p:nvSpPr>
        <p:spPr>
          <a:xfrm>
            <a:off x="2455200" y="6105600"/>
            <a:ext cx="3904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Année académique 2025-2026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22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Image 23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ectangle 2"/>
          <p:cNvSpPr/>
          <p:nvPr/>
        </p:nvSpPr>
        <p:spPr>
          <a:xfrm>
            <a:off x="1190520" y="18108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00B050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1. Plan de la présentation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857160" y="2238480"/>
            <a:ext cx="666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8"/>
          <p:cNvSpPr/>
          <p:nvPr/>
        </p:nvSpPr>
        <p:spPr>
          <a:xfrm>
            <a:off x="1714680" y="2238480"/>
            <a:ext cx="3428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729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Contexte et architecture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Rectangle 10"/>
          <p:cNvSpPr/>
          <p:nvPr/>
        </p:nvSpPr>
        <p:spPr>
          <a:xfrm>
            <a:off x="857160" y="2962440"/>
            <a:ext cx="666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ectangle 11"/>
          <p:cNvSpPr/>
          <p:nvPr/>
        </p:nvSpPr>
        <p:spPr>
          <a:xfrm>
            <a:off x="1714680" y="2962440"/>
            <a:ext cx="3428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729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Méthode et campagne d'essais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angle 13"/>
          <p:cNvSpPr/>
          <p:nvPr/>
        </p:nvSpPr>
        <p:spPr>
          <a:xfrm>
            <a:off x="857160" y="3686040"/>
            <a:ext cx="666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14"/>
          <p:cNvSpPr/>
          <p:nvPr/>
        </p:nvSpPr>
        <p:spPr>
          <a:xfrm>
            <a:off x="1714680" y="3686040"/>
            <a:ext cx="3428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729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Résultats des attaques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Rectangle 16"/>
          <p:cNvSpPr/>
          <p:nvPr/>
        </p:nvSpPr>
        <p:spPr>
          <a:xfrm>
            <a:off x="857160" y="4410000"/>
            <a:ext cx="666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ectangle 17"/>
          <p:cNvSpPr/>
          <p:nvPr/>
        </p:nvSpPr>
        <p:spPr>
          <a:xfrm>
            <a:off x="1714680" y="4410000"/>
            <a:ext cx="3428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729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Contre-mesures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19"/>
          <p:cNvSpPr/>
          <p:nvPr/>
        </p:nvSpPr>
        <p:spPr>
          <a:xfrm>
            <a:off x="857160" y="5133960"/>
            <a:ext cx="666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Rectangle 20"/>
          <p:cNvSpPr/>
          <p:nvPr/>
        </p:nvSpPr>
        <p:spPr>
          <a:xfrm>
            <a:off x="1714680" y="5133960"/>
            <a:ext cx="3428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729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Validation et conclusion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8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Image 9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Rectangle 2"/>
          <p:cNvSpPr/>
          <p:nvPr/>
        </p:nvSpPr>
        <p:spPr>
          <a:xfrm>
            <a:off x="952560" y="37980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3/30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40" name="Rectangle 7"/>
          <p:cNvSpPr/>
          <p:nvPr/>
        </p:nvSpPr>
        <p:spPr>
          <a:xfrm>
            <a:off x="1095480" y="2333520"/>
            <a:ext cx="619092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applications web traitent des entrées, des sessions et des fichiers provenant d'utilisateurs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Une validation insuffisante peut modifier une requête, exécuter du code ou contourner une autorisation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DVWA fournit un environnement volontairement vulnérable pour observer ces mécanismes sans viser un système tiers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projet compare une référence vulnérable à une copie destinée aux corrections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ZoneTexte 10"/>
          <p:cNvSpPr/>
          <p:nvPr/>
        </p:nvSpPr>
        <p:spPr>
          <a:xfrm>
            <a:off x="237960" y="1964160"/>
            <a:ext cx="4571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fr-FR" sz="180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2. Sujet et problématique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8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Image 9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Rectangle 2"/>
          <p:cNvSpPr/>
          <p:nvPr/>
        </p:nvSpPr>
        <p:spPr>
          <a:xfrm>
            <a:off x="1262160" y="28584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3. Objectifs du projet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4/30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48" name="Rectangle 7"/>
          <p:cNvSpPr/>
          <p:nvPr/>
        </p:nvSpPr>
        <p:spPr>
          <a:xfrm>
            <a:off x="1095480" y="2333520"/>
            <a:ext cx="619092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Déployer un laboratoire isolé, accessible et reproductible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Exécuter des scénarios d'attaque contrôlés sur plusieurs modules DVWA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Associer chaque observation à une capture, une charge et un résultat attendu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Comparer les niveaux low, medium, high et impossible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Appliquer puis valider des contre-mesures sans casser les usages légitimes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8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Image 9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Rectangle 2"/>
          <p:cNvSpPr/>
          <p:nvPr/>
        </p:nvSpPr>
        <p:spPr>
          <a:xfrm>
            <a:off x="1095480" y="35712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4. Périmètre et règles du laboratoire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5/30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55" name="Rectangle 7"/>
          <p:cNvSpPr/>
          <p:nvPr/>
        </p:nvSpPr>
        <p:spPr>
          <a:xfrm>
            <a:off x="1095480" y="2333520"/>
            <a:ext cx="619092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essais restent limités aux instances locales 127.0.0.1:4280 et 127.0.0.1:4281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L'instance reference conserve l'état initial et la copie corrections reçoit les modifications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bases ne publient aucun port sur la machine hôte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tests utilisent des comptes de démonstration et des données sans valeur réelle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729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Aucune capture ne prouve un correctif personnel tant que le rejeu après modification n'est pas documenté</a:t>
            </a:r>
            <a:endParaRPr lang="fr-F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10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Image 11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Rectangle 2"/>
          <p:cNvSpPr/>
          <p:nvPr/>
        </p:nvSpPr>
        <p:spPr>
          <a:xfrm>
            <a:off x="762120" y="48564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5. Architecture du laboratoire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5"/>
          <p:cNvSpPr/>
          <p:nvPr/>
        </p:nvSpPr>
        <p:spPr>
          <a:xfrm>
            <a:off x="857160" y="1790640"/>
            <a:ext cx="6476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2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Deux environnements isolés derrière un proxy local</a:t>
            </a:r>
            <a:endParaRPr lang="fr-F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6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6/30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7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8"/>
          <p:cNvSpPr/>
          <p:nvPr/>
        </p:nvSpPr>
        <p:spPr>
          <a:xfrm>
            <a:off x="428760" y="2381400"/>
            <a:ext cx="3333240" cy="28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Nginx publie les ports 4280 et 4281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Deux applications DVWA utilisent des réseaux internes séparés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Chaque application possède sa base et ses volumes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Docker Compose orchestre les cinq services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19"/>
          <p:cNvPicPr/>
          <p:nvPr/>
        </p:nvPicPr>
        <p:blipFill>
          <a:blip r:embed="rId3"/>
          <a:stretch/>
        </p:blipFill>
        <p:spPr>
          <a:xfrm>
            <a:off x="4034520" y="2190600"/>
            <a:ext cx="3455640" cy="342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17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 18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Rectangle 2"/>
          <p:cNvSpPr/>
          <p:nvPr/>
        </p:nvSpPr>
        <p:spPr>
          <a:xfrm>
            <a:off x="857160" y="39996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6. Rôle des cinq services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7/30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809640" y="2286000"/>
            <a:ext cx="180936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gateway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8"/>
          <p:cNvSpPr/>
          <p:nvPr/>
        </p:nvSpPr>
        <p:spPr>
          <a:xfrm>
            <a:off x="2762280" y="2286000"/>
            <a:ext cx="43336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Proxy Nginx et point d'accès local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9"/>
          <p:cNvSpPr/>
          <p:nvPr/>
        </p:nvSpPr>
        <p:spPr>
          <a:xfrm>
            <a:off x="809640" y="2971800"/>
            <a:ext cx="180936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reference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0"/>
          <p:cNvSpPr/>
          <p:nvPr/>
        </p:nvSpPr>
        <p:spPr>
          <a:xfrm>
            <a:off x="2762280" y="2971800"/>
            <a:ext cx="43336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Application DVWA conservée comme témoin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11"/>
          <p:cNvSpPr/>
          <p:nvPr/>
        </p:nvSpPr>
        <p:spPr>
          <a:xfrm>
            <a:off x="809640" y="3657600"/>
            <a:ext cx="180936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reference-db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12"/>
          <p:cNvSpPr/>
          <p:nvPr/>
        </p:nvSpPr>
        <p:spPr>
          <a:xfrm>
            <a:off x="2762280" y="3657600"/>
            <a:ext cx="43336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Base MariaDB du témoin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3"/>
          <p:cNvSpPr/>
          <p:nvPr/>
        </p:nvSpPr>
        <p:spPr>
          <a:xfrm>
            <a:off x="809640" y="4343400"/>
            <a:ext cx="180936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corrections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4"/>
          <p:cNvSpPr/>
          <p:nvPr/>
        </p:nvSpPr>
        <p:spPr>
          <a:xfrm>
            <a:off x="2762280" y="4343400"/>
            <a:ext cx="43336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Copie de travail destinée aux remédiations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5"/>
          <p:cNvSpPr/>
          <p:nvPr/>
        </p:nvSpPr>
        <p:spPr>
          <a:xfrm>
            <a:off x="809640" y="5029200"/>
            <a:ext cx="180936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corrections-db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6"/>
          <p:cNvSpPr/>
          <p:nvPr/>
        </p:nvSpPr>
        <p:spPr>
          <a:xfrm>
            <a:off x="2762280" y="5029200"/>
            <a:ext cx="43336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Base MariaDB de la copie de travail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9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Image 10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Rectangle 2"/>
          <p:cNvSpPr/>
          <p:nvPr/>
        </p:nvSpPr>
        <p:spPr>
          <a:xfrm>
            <a:off x="743040" y="34308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7. Configuration des services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8/30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7"/>
          <p:cNvSpPr/>
          <p:nvPr/>
        </p:nvSpPr>
        <p:spPr>
          <a:xfrm>
            <a:off x="428760" y="2333520"/>
            <a:ext cx="3333240" cy="29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MariaDB utilise une base dvwa et un compte applicatif dédié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sessions portent des noms distincts sur les deux instances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volumes conservent les bases et les fichiers téléversés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options PHP vulnérables restent actives uniquement pour les exercices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17"/>
          <p:cNvPicPr/>
          <p:nvPr/>
        </p:nvPicPr>
        <p:blipFill>
          <a:blip r:embed="rId3"/>
          <a:stretch/>
        </p:blipFill>
        <p:spPr>
          <a:xfrm>
            <a:off x="4034520" y="2190600"/>
            <a:ext cx="3455640" cy="342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13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Image 14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Rectangle 2"/>
          <p:cNvSpPr/>
          <p:nvPr/>
        </p:nvSpPr>
        <p:spPr>
          <a:xfrm>
            <a:off x="914400" y="40968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8. Démarrage et disponibilité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9/30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r"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µ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7"/>
          <p:cNvSpPr/>
          <p:nvPr/>
        </p:nvSpPr>
        <p:spPr>
          <a:xfrm>
            <a:off x="619200" y="2381400"/>
            <a:ext cx="114264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450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fr-F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8"/>
          <p:cNvSpPr/>
          <p:nvPr/>
        </p:nvSpPr>
        <p:spPr>
          <a:xfrm>
            <a:off x="523800" y="3238560"/>
            <a:ext cx="13330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services actifs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9"/>
          <p:cNvSpPr/>
          <p:nvPr/>
        </p:nvSpPr>
        <p:spPr>
          <a:xfrm>
            <a:off x="2143080" y="2381400"/>
            <a:ext cx="16189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37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19/19</a:t>
            </a:r>
            <a:endParaRPr lang="fr-FR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10"/>
          <p:cNvSpPr/>
          <p:nvPr/>
        </p:nvSpPr>
        <p:spPr>
          <a:xfrm>
            <a:off x="2095560" y="3238560"/>
            <a:ext cx="171432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pages valides par instance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24"/>
          <p:cNvPicPr/>
          <p:nvPr/>
        </p:nvPicPr>
        <p:blipFill>
          <a:blip r:embed="rId3"/>
          <a:stretch/>
        </p:blipFill>
        <p:spPr>
          <a:xfrm>
            <a:off x="4095720" y="2297880"/>
            <a:ext cx="3428640" cy="30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12"/>
          <p:cNvSpPr/>
          <p:nvPr/>
        </p:nvSpPr>
        <p:spPr>
          <a:xfrm>
            <a:off x="857160" y="4334040"/>
            <a:ext cx="276192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7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Bases saines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Connexion réussie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Données conservées après reprise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10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Image 11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Rectangle 2"/>
          <p:cNvSpPr/>
          <p:nvPr/>
        </p:nvSpPr>
        <p:spPr>
          <a:xfrm>
            <a:off x="743040" y="43488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9. Niveau de sécurité initial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5"/>
          <p:cNvSpPr/>
          <p:nvPr/>
        </p:nvSpPr>
        <p:spPr>
          <a:xfrm>
            <a:off x="857160" y="1790640"/>
            <a:ext cx="6476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2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niveau low fournit la situation de référence vulnérable</a:t>
            </a:r>
            <a:endParaRPr lang="fr-F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6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10/30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428760" y="2381400"/>
            <a:ext cx="3381120" cy="29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captures d'installation affichent le niveau low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cookies de sécurité peuvent être partagés entre les ports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Chaque comparaison utilise un profil ou une session de navigateur distincte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niveaux DVWA restent des protections pédagogiques, différentes des correctifs personnels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19"/>
          <p:cNvPicPr/>
          <p:nvPr/>
        </p:nvPicPr>
        <p:blipFill>
          <a:blip r:embed="rId3"/>
          <a:stretch/>
        </p:blipFill>
        <p:spPr>
          <a:xfrm>
            <a:off x="4000680" y="2483280"/>
            <a:ext cx="3571560" cy="274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9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Image 10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Rectangle 2"/>
          <p:cNvSpPr/>
          <p:nvPr/>
        </p:nvSpPr>
        <p:spPr>
          <a:xfrm>
            <a:off x="952560" y="39996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10. Protocole d'un essai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5"/>
          <p:cNvSpPr/>
          <p:nvPr/>
        </p:nvSpPr>
        <p:spPr>
          <a:xfrm>
            <a:off x="857160" y="1790640"/>
            <a:ext cx="6476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2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preuve repose sur un résultat vérifiable et reproductible</a:t>
            </a:r>
            <a:endParaRPr lang="fr-F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6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11/30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7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8"/>
          <p:cNvSpPr/>
          <p:nvPr/>
        </p:nvSpPr>
        <p:spPr>
          <a:xfrm>
            <a:off x="1095480" y="2333520"/>
            <a:ext cx="619092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6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Ouvrir le module dans une session authentifiée et relever le niveau courant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6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Exécuter un cas normal afin de fixer le comportement attendu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6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Envoyer une charge contrôlée et enregistrer la requête ainsi que la réponse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6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Vérifier un marqueur, un code HTTP, un changement d'état ou une différence de contenu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6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Classer le résultat comme confirmé, à reprendre ou non confirmé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 14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 15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"/>
          <p:cNvSpPr/>
          <p:nvPr/>
        </p:nvSpPr>
        <p:spPr>
          <a:xfrm>
            <a:off x="1028880" y="39996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11. Synthèse de la campagne d'essais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12/30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7"/>
          <p:cNvSpPr/>
          <p:nvPr/>
        </p:nvSpPr>
        <p:spPr>
          <a:xfrm>
            <a:off x="857160" y="2428920"/>
            <a:ext cx="1618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465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fr-FR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8"/>
          <p:cNvSpPr/>
          <p:nvPr/>
        </p:nvSpPr>
        <p:spPr>
          <a:xfrm>
            <a:off x="857160" y="3333600"/>
            <a:ext cx="16189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sous-tests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9"/>
          <p:cNvSpPr/>
          <p:nvPr/>
        </p:nvSpPr>
        <p:spPr>
          <a:xfrm>
            <a:off x="3048120" y="2428920"/>
            <a:ext cx="1618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46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fr-FR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0"/>
          <p:cNvSpPr/>
          <p:nvPr/>
        </p:nvSpPr>
        <p:spPr>
          <a:xfrm>
            <a:off x="3048120" y="3333600"/>
            <a:ext cx="16189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captures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11"/>
          <p:cNvSpPr/>
          <p:nvPr/>
        </p:nvSpPr>
        <p:spPr>
          <a:xfrm>
            <a:off x="5238720" y="2428920"/>
            <a:ext cx="161892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465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fr-FR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2"/>
          <p:cNvSpPr/>
          <p:nvPr/>
        </p:nvSpPr>
        <p:spPr>
          <a:xfrm>
            <a:off x="5238720" y="3333600"/>
            <a:ext cx="16189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50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modules contrôlés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13"/>
          <p:cNvSpPr/>
          <p:nvPr/>
        </p:nvSpPr>
        <p:spPr>
          <a:xfrm>
            <a:off x="1666800" y="4334040"/>
            <a:ext cx="485748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6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17 effets confirmés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6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4 sous-tests à reprendre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6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 modification API à confirmer après relecture</a:t>
            </a:r>
            <a:endParaRPr lang="fr-F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Rectangle 2"/>
          <p:cNvSpPr/>
          <p:nvPr/>
        </p:nvSpPr>
        <p:spPr>
          <a:xfrm>
            <a:off x="642960" y="36180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12. Injection SQL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13/30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T01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Charge : 1' OR '1'='1' #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cas normal renvoie un utilisateur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L'injection renvoie cinq utilisateurs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20"/>
          <p:cNvPicPr/>
          <p:nvPr/>
        </p:nvPicPr>
        <p:blipFill>
          <a:blip r:embed="rId3"/>
          <a:stretch/>
        </p:blipFill>
        <p:spPr>
          <a:xfrm>
            <a:off x="3857760" y="2476080"/>
            <a:ext cx="3714480" cy="285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T01 - résultat de l'injection SQL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 12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Image 13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Rectangle 2"/>
          <p:cNvSpPr/>
          <p:nvPr/>
        </p:nvSpPr>
        <p:spPr>
          <a:xfrm>
            <a:off x="642960" y="40968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13. Injection SQL aveugle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5"/>
          <p:cNvSpPr/>
          <p:nvPr/>
        </p:nvSpPr>
        <p:spPr>
          <a:xfrm>
            <a:off x="857160" y="1790640"/>
            <a:ext cx="6476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2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réponse varie selon la valeur de la condition injectée</a:t>
            </a:r>
            <a:endParaRPr lang="fr-F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14/30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7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8"/>
          <p:cNvSpPr/>
          <p:nvPr/>
        </p:nvSpPr>
        <p:spPr>
          <a:xfrm>
            <a:off x="428760" y="2333520"/>
            <a:ext cx="761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T02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9"/>
          <p:cNvSpPr/>
          <p:nvPr/>
        </p:nvSpPr>
        <p:spPr>
          <a:xfrm>
            <a:off x="428760" y="2857680"/>
            <a:ext cx="3047760" cy="25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Condition vraie : HTTP 200 et User ID exists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Condition fausse : HTTP 404 et MISSING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différence permet d'inférer une information booléenne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1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22"/>
          <p:cNvPicPr/>
          <p:nvPr/>
        </p:nvPicPr>
        <p:blipFill>
          <a:blip r:embed="rId3"/>
          <a:stretch/>
        </p:blipFill>
        <p:spPr>
          <a:xfrm>
            <a:off x="4498560" y="2143080"/>
            <a:ext cx="2289600" cy="176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Image 23"/>
          <p:cNvPicPr/>
          <p:nvPr/>
        </p:nvPicPr>
        <p:blipFill>
          <a:blip r:embed="rId4"/>
          <a:stretch/>
        </p:blipFill>
        <p:spPr>
          <a:xfrm>
            <a:off x="4498560" y="4048200"/>
            <a:ext cx="2289600" cy="176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Rectangle 2"/>
          <p:cNvSpPr/>
          <p:nvPr/>
        </p:nvSpPr>
        <p:spPr>
          <a:xfrm>
            <a:off x="547560" y="47664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14. Injection de commandes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15/30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T03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Charge : 127.0.0.1; printf G12_COMMAND_OK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shell exécute une commande après le ping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marqueur apparaît dans la sortie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20"/>
          <p:cNvPicPr/>
          <p:nvPr/>
        </p:nvPicPr>
        <p:blipFill>
          <a:blip r:embed="rId3"/>
          <a:stretch/>
        </p:blipFill>
        <p:spPr>
          <a:xfrm>
            <a:off x="3857760" y="2476080"/>
            <a:ext cx="3714480" cy="285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T03 - marqueur renvoyé par le shell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Rectangle 2"/>
          <p:cNvSpPr/>
          <p:nvPr/>
        </p:nvSpPr>
        <p:spPr>
          <a:xfrm>
            <a:off x="619200" y="48744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15. XSS réfléchie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16/30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T04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Une balise script est transmise dans le paramètre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navigateur interprète la valeur dans la réponse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marqueur G12_XSS_R apparaît dans la page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20"/>
          <p:cNvPicPr/>
          <p:nvPr/>
        </p:nvPicPr>
        <p:blipFill>
          <a:blip r:embed="rId3"/>
          <a:stretch/>
        </p:blipFill>
        <p:spPr>
          <a:xfrm>
            <a:off x="3857760" y="2454120"/>
            <a:ext cx="3714480" cy="290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T04 - exécution du script réfléchi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Rectangle 2"/>
          <p:cNvSpPr/>
          <p:nvPr/>
        </p:nvSpPr>
        <p:spPr>
          <a:xfrm>
            <a:off x="743040" y="36180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16. XSS stockée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17/30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T05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script est enregistré dans le contenu de l'application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Une seconde session observe le marqueur sans nouvelle publication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charge affecte donc les visiteurs ultérieurs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20"/>
          <p:cNvPicPr/>
          <p:nvPr/>
        </p:nvPicPr>
        <p:blipFill>
          <a:blip r:embed="rId3"/>
          <a:stretch/>
        </p:blipFill>
        <p:spPr>
          <a:xfrm>
            <a:off x="3857760" y="2454120"/>
            <a:ext cx="3714480" cy="290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T05 - contenu stocké visible dans une autre session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Rectangle 2"/>
          <p:cNvSpPr/>
          <p:nvPr/>
        </p:nvSpPr>
        <p:spPr>
          <a:xfrm>
            <a:off x="743040" y="36180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17. XSS DOM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18/30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T06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charge cible une modification du DOM côté navigateur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captures ont été conservées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contrôle automatique du marqueur a échoué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essai à reprendre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20"/>
          <p:cNvPicPr/>
          <p:nvPr/>
        </p:nvPicPr>
        <p:blipFill>
          <a:blip r:embed="rId3"/>
          <a:stretch/>
        </p:blipFill>
        <p:spPr>
          <a:xfrm>
            <a:off x="3857760" y="2512080"/>
            <a:ext cx="3714480" cy="27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T06 - capture de l'essai DOM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Rectangle 2"/>
          <p:cNvSpPr/>
          <p:nvPr/>
        </p:nvSpPr>
        <p:spPr>
          <a:xfrm>
            <a:off x="642960" y="39996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18. Requête intersite CSRF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19/30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6"/>
          <p:cNvSpPr/>
          <p:nvPr/>
        </p:nvSpPr>
        <p:spPr>
          <a:xfrm>
            <a:off x="5715000" y="649620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T07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Une page servie sur le port 4290 déclenche le changement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reconnexion avec le nouveau mot de passe réussit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origines diffèrent mais restent same-site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 dans ce contexte local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20"/>
          <p:cNvPicPr/>
          <p:nvPr/>
        </p:nvPicPr>
        <p:blipFill>
          <a:blip r:embed="rId3"/>
          <a:stretch/>
        </p:blipFill>
        <p:spPr>
          <a:xfrm>
            <a:off x="3857760" y="2476080"/>
            <a:ext cx="3714480" cy="285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T07 - changement de mot de passe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Rectangle 2"/>
          <p:cNvSpPr/>
          <p:nvPr/>
        </p:nvSpPr>
        <p:spPr>
          <a:xfrm>
            <a:off x="547560" y="43344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19. Inclusion de fichiers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20/30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T08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Paramètre : page=../../robots.txt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serveur lit un fichier hors du dossier du module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traversée de répertoires contourne le chemin attendu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20"/>
          <p:cNvPicPr/>
          <p:nvPr/>
        </p:nvPicPr>
        <p:blipFill>
          <a:blip r:embed="rId3"/>
          <a:stretch/>
        </p:blipFill>
        <p:spPr>
          <a:xfrm>
            <a:off x="4075200" y="2238480"/>
            <a:ext cx="327960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T08 - contenu de robots.txt inclus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Rectangle 2"/>
          <p:cNvSpPr/>
          <p:nvPr/>
        </p:nvSpPr>
        <p:spPr>
          <a:xfrm>
            <a:off x="619200" y="36180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20. Téléversement exécutable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21/30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T09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Un fichier PHP contenant un marqueur est téléversé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serveur accepte le fichier dans un emplacement accessible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L'appel du fichier renvoie G12_UPLOAD_EXECUTED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20"/>
          <p:cNvPicPr/>
          <p:nvPr/>
        </p:nvPicPr>
        <p:blipFill>
          <a:blip r:embed="rId3"/>
          <a:stretch/>
        </p:blipFill>
        <p:spPr>
          <a:xfrm>
            <a:off x="3857760" y="2476080"/>
            <a:ext cx="3714480" cy="285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T09 - téléversement du fichier PHP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Rectangle 2"/>
          <p:cNvSpPr/>
          <p:nvPr/>
        </p:nvSpPr>
        <p:spPr>
          <a:xfrm>
            <a:off x="619200" y="40968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21. Essais de mots de passe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22/30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T10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Deux mots de passe incorrects sont testés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troisième essai utilise le mot de passe connu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Aucun blocage n'apparaît dans cette série de trois essais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conclusion reste limitée à ce petit échantillon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20"/>
          <p:cNvPicPr/>
          <p:nvPr/>
        </p:nvPicPr>
        <p:blipFill>
          <a:blip r:embed="rId3"/>
          <a:stretch/>
        </p:blipFill>
        <p:spPr>
          <a:xfrm>
            <a:off x="3857760" y="2476080"/>
            <a:ext cx="3714480" cy="285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T10 - troisième essai d'authentification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Rectangle 2"/>
          <p:cNvSpPr/>
          <p:nvPr/>
        </p:nvSpPr>
        <p:spPr>
          <a:xfrm>
            <a:off x="743040" y="39996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22. Cryptographie XOR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23/30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T11a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capture montre un message décodé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script de vérification n'a pas confirmé le résultat attendu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Aucune validation complète ne peut encore être annoncée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essai à reprendre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Image 20"/>
          <p:cNvPicPr/>
          <p:nvPr/>
        </p:nvPicPr>
        <p:blipFill>
          <a:blip r:embed="rId3"/>
          <a:stretch/>
        </p:blipFill>
        <p:spPr>
          <a:xfrm>
            <a:off x="3857760" y="2338200"/>
            <a:ext cx="3714480" cy="313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T11a - décodage XOR observé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Rectangle 2"/>
          <p:cNvSpPr/>
          <p:nvPr/>
        </p:nvSpPr>
        <p:spPr>
          <a:xfrm>
            <a:off x="642960" y="35244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23. Recomposition de blocs ECB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24/30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7"/>
          <p:cNvSpPr/>
          <p:nvPr/>
        </p:nvSpPr>
        <p:spPr>
          <a:xfrm>
            <a:off x="428760" y="2333520"/>
            <a:ext cx="809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202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T11b</a:t>
            </a:r>
            <a:endParaRPr lang="fr-F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8"/>
          <p:cNvSpPr/>
          <p:nvPr/>
        </p:nvSpPr>
        <p:spPr>
          <a:xfrm>
            <a:off x="428760" y="2857680"/>
            <a:ext cx="314280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Trois jetons fournissent des blocs réutilisables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recomposition est acceptée comme administrator Sweep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résultat illustre la faiblesse structurelle du mode ECB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0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Bilan : effet confirmé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20"/>
          <p:cNvPicPr/>
          <p:nvPr/>
        </p:nvPicPr>
        <p:blipFill>
          <a:blip r:embed="rId3"/>
          <a:stretch/>
        </p:blipFill>
        <p:spPr>
          <a:xfrm>
            <a:off x="4172400" y="2238480"/>
            <a:ext cx="308520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Rectangle 10"/>
          <p:cNvSpPr/>
          <p:nvPr/>
        </p:nvSpPr>
        <p:spPr>
          <a:xfrm>
            <a:off x="4000680" y="5619600"/>
            <a:ext cx="3428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T11b - recomposition de blocs acceptée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Image 11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Image 12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Rectangle 2"/>
          <p:cNvSpPr/>
          <p:nvPr/>
        </p:nvSpPr>
        <p:spPr>
          <a:xfrm>
            <a:off x="785880" y="43344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24. Lecture globale des résultats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25/30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7"/>
          <p:cNvSpPr/>
          <p:nvPr/>
        </p:nvSpPr>
        <p:spPr>
          <a:xfrm>
            <a:off x="762120" y="233352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180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Effets confirmés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8"/>
          <p:cNvSpPr/>
          <p:nvPr/>
        </p:nvSpPr>
        <p:spPr>
          <a:xfrm>
            <a:off x="714240" y="2809800"/>
            <a:ext cx="3047760" cy="27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Injections SQL et de commandes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XSS réfléchie et stockée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CSRF dans le contexte local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Inclusion et téléversement de fichiers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Recomposition de blocs ECB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9"/>
          <p:cNvSpPr/>
          <p:nvPr/>
        </p:nvSpPr>
        <p:spPr>
          <a:xfrm>
            <a:off x="4238640" y="233352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180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Points à reprendre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10"/>
          <p:cNvSpPr/>
          <p:nvPr/>
        </p:nvSpPr>
        <p:spPr>
          <a:xfrm>
            <a:off x="4191120" y="2809800"/>
            <a:ext cx="3047760" cy="27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T06 : XSS DOM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T13 : essai non finalisé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T18a : validation XOR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T19c : résultat incomplet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799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43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T19b : persistance de la modification API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Image 16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Image 17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Rectangle 2"/>
          <p:cNvSpPr/>
          <p:nvPr/>
        </p:nvSpPr>
        <p:spPr>
          <a:xfrm>
            <a:off x="857160" y="35712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271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25. Progression des niveaux de sécurité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26/30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ectangle 7"/>
          <p:cNvSpPr/>
          <p:nvPr/>
        </p:nvSpPr>
        <p:spPr>
          <a:xfrm>
            <a:off x="857160" y="2333520"/>
            <a:ext cx="17618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LOW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8"/>
          <p:cNvSpPr/>
          <p:nvPr/>
        </p:nvSpPr>
        <p:spPr>
          <a:xfrm>
            <a:off x="2952720" y="2333520"/>
            <a:ext cx="40478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Situation vulnérable et charge de référence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9"/>
          <p:cNvSpPr/>
          <p:nvPr/>
        </p:nvSpPr>
        <p:spPr>
          <a:xfrm>
            <a:off x="857160" y="3171960"/>
            <a:ext cx="17618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MEDIUM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10"/>
          <p:cNvSpPr/>
          <p:nvPr/>
        </p:nvSpPr>
        <p:spPr>
          <a:xfrm>
            <a:off x="2952720" y="3171960"/>
            <a:ext cx="40478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Protection partielle et premier rejeu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11"/>
          <p:cNvSpPr/>
          <p:nvPr/>
        </p:nvSpPr>
        <p:spPr>
          <a:xfrm>
            <a:off x="857160" y="4010040"/>
            <a:ext cx="17618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HIGH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2"/>
          <p:cNvSpPr/>
          <p:nvPr/>
        </p:nvSpPr>
        <p:spPr>
          <a:xfrm>
            <a:off x="2952720" y="4010040"/>
            <a:ext cx="40478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Contrôles renforcés et test adapté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13"/>
          <p:cNvSpPr/>
          <p:nvPr/>
        </p:nvSpPr>
        <p:spPr>
          <a:xfrm>
            <a:off x="857160" y="4848120"/>
            <a:ext cx="17618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lang="fr-FR" sz="217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IMPOSSIBLE</a:t>
            </a:r>
            <a:endParaRPr lang="fr-F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14"/>
          <p:cNvSpPr/>
          <p:nvPr/>
        </p:nvSpPr>
        <p:spPr>
          <a:xfrm>
            <a:off x="2952720" y="4848120"/>
            <a:ext cx="40478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Correction structurelle et validation fonctionnelle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15"/>
          <p:cNvSpPr/>
          <p:nvPr/>
        </p:nvSpPr>
        <p:spPr>
          <a:xfrm>
            <a:off x="1380960" y="5810400"/>
            <a:ext cx="53337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92500" lnSpcReduction="9999"/>
          </a:bodyPr>
          <a:p>
            <a:pPr algn="ctr" defTabSz="914400">
              <a:lnSpc>
                <a:spcPct val="100000"/>
              </a:lnSpc>
            </a:pPr>
            <a:r>
              <a:rPr lang="fr-FR" sz="1350" b="1" u="none" strike="noStrike">
                <a:solidFill>
                  <a:srgbClr val="5B5B5B"/>
                </a:solidFill>
                <a:effectLst/>
                <a:uFillTx/>
                <a:latin typeface="Calibri"/>
                <a:ea typeface="Calibri"/>
              </a:rPr>
              <a:t>Chaque niveau utilise une session distincte et le même scénario de comparaison.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Image 9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Image 10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Rectangle 2"/>
          <p:cNvSpPr/>
          <p:nvPr/>
        </p:nvSpPr>
        <p:spPr>
          <a:xfrm>
            <a:off x="952560" y="45720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287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26. Protections applicatives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5"/>
          <p:cNvSpPr/>
          <p:nvPr/>
        </p:nvSpPr>
        <p:spPr>
          <a:xfrm>
            <a:off x="857160" y="1790640"/>
            <a:ext cx="6476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2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défenses traitent la cause de la vulnérabilité</a:t>
            </a:r>
            <a:endParaRPr lang="fr-F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6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27/30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7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8"/>
          <p:cNvSpPr/>
          <p:nvPr/>
        </p:nvSpPr>
        <p:spPr>
          <a:xfrm>
            <a:off x="1095480" y="2333520"/>
            <a:ext cx="619092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SQL : requêtes préparées, paramètres liés et validation stricte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Commandes : suppression du shell ou liste blanche d'arguments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XSS : encodage selon le contexte, assainissement ciblé et API DOM sûres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CSRF : jeton serveur, méthode POST, SameSite et contrôle de l'origine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Fichiers : identifiants autorisés, stockage hors racine web et exécution interdite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 9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Image 10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Rectangle 2"/>
          <p:cNvSpPr/>
          <p:nvPr/>
        </p:nvSpPr>
        <p:spPr>
          <a:xfrm>
            <a:off x="1262160" y="34308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296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27. Authentification, infrastructure et cryptographie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5"/>
          <p:cNvSpPr/>
          <p:nvPr/>
        </p:nvSpPr>
        <p:spPr>
          <a:xfrm>
            <a:off x="857160" y="1790640"/>
            <a:ext cx="6476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2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protection combine le code, la configuration et l'exploitation</a:t>
            </a:r>
            <a:endParaRPr lang="fr-F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6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28/30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7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300" name="Rectangle 8"/>
          <p:cNvSpPr/>
          <p:nvPr/>
        </p:nvSpPr>
        <p:spPr>
          <a:xfrm>
            <a:off x="1095480" y="2333520"/>
            <a:ext cx="619092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Limiter le débit des connexions et appliquer un délai progressif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Ajouter MFA et journaliser les tentatives anormales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Exécuter les services avec des droits minimaux et conserver l'isolation réseau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Remplacer XOR seul et ECB par AES-GCM ou ChaCha20-Poly1305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Gérer les clés séparément et utiliser un nonce unique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Image 17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Image 18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Rectangle 2"/>
          <p:cNvSpPr/>
          <p:nvPr/>
        </p:nvSpPr>
        <p:spPr>
          <a:xfrm>
            <a:off x="785880" y="41904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305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28. Validation des correctifs et suite du travail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5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29/30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6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762120" y="2238480"/>
            <a:ext cx="7138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8"/>
          <p:cNvSpPr/>
          <p:nvPr/>
        </p:nvSpPr>
        <p:spPr>
          <a:xfrm>
            <a:off x="1714680" y="2238480"/>
            <a:ext cx="53337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Rejouer le cas normal et la charge d'origine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9"/>
          <p:cNvSpPr/>
          <p:nvPr/>
        </p:nvSpPr>
        <p:spPr>
          <a:xfrm>
            <a:off x="762120" y="2962440"/>
            <a:ext cx="7138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0"/>
          <p:cNvSpPr/>
          <p:nvPr/>
        </p:nvSpPr>
        <p:spPr>
          <a:xfrm>
            <a:off x="1714680" y="2962440"/>
            <a:ext cx="53337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Vérifier le rejet sans régression fonctionnelle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11"/>
          <p:cNvSpPr/>
          <p:nvPr/>
        </p:nvSpPr>
        <p:spPr>
          <a:xfrm>
            <a:off x="762120" y="3686040"/>
            <a:ext cx="7138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2"/>
          <p:cNvSpPr/>
          <p:nvPr/>
        </p:nvSpPr>
        <p:spPr>
          <a:xfrm>
            <a:off x="1714680" y="3686040"/>
            <a:ext cx="53337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Conserver requêtes, réponses, journaux et captures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13"/>
          <p:cNvSpPr/>
          <p:nvPr/>
        </p:nvSpPr>
        <p:spPr>
          <a:xfrm>
            <a:off x="762120" y="4410000"/>
            <a:ext cx="7138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4"/>
          <p:cNvSpPr/>
          <p:nvPr/>
        </p:nvSpPr>
        <p:spPr>
          <a:xfrm>
            <a:off x="1714680" y="4410000"/>
            <a:ext cx="53337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Identifier le diff et le commit Git du correctif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15"/>
          <p:cNvSpPr/>
          <p:nvPr/>
        </p:nvSpPr>
        <p:spPr>
          <a:xfrm>
            <a:off x="762120" y="5133960"/>
            <a:ext cx="7138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008C4A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16"/>
          <p:cNvSpPr/>
          <p:nvPr/>
        </p:nvSpPr>
        <p:spPr>
          <a:xfrm>
            <a:off x="1714680" y="5133960"/>
            <a:ext cx="53337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fr-FR" sz="15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Relancer le contrôle des 19 modules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Image 9"/>
          <p:cNvPicPr/>
          <p:nvPr/>
        </p:nvPicPr>
        <p:blipFill>
          <a:blip r:embed="rId1"/>
          <a:srcRect l="7837" t="0" r="7837" b="0"/>
          <a:stretch/>
        </p:blipFill>
        <p:spPr>
          <a:xfrm>
            <a:off x="7953480" y="0"/>
            <a:ext cx="1190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Image 10"/>
          <p:cNvPicPr/>
          <p:nvPr/>
        </p:nvPicPr>
        <p:blipFill>
          <a:blip r:embed="rId2"/>
          <a:srcRect l="0" t="2310" r="0" b="2310"/>
          <a:stretch/>
        </p:blipFill>
        <p:spPr>
          <a:xfrm>
            <a:off x="0" y="781200"/>
            <a:ext cx="252360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Rectangle 2"/>
          <p:cNvSpPr/>
          <p:nvPr/>
        </p:nvSpPr>
        <p:spPr>
          <a:xfrm>
            <a:off x="743040" y="347760"/>
            <a:ext cx="4762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43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Étude et implémentation des attaques web et contre-mesures</a:t>
            </a:r>
            <a:endParaRPr lang="fr-FR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3"/>
          <p:cNvSpPr/>
          <p:nvPr/>
        </p:nvSpPr>
        <p:spPr>
          <a:xfrm>
            <a:off x="2857680" y="619200"/>
            <a:ext cx="4762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62500" lnSpcReduction="19999"/>
          </a:bodyPr>
          <a:p>
            <a:endParaRPr lang="fr-FR" sz="1130" b="1" u="none" strike="noStrike">
              <a:solidFill>
                <a:srgbClr val="5B5B5B"/>
              </a:solidFill>
              <a:effectLst/>
              <a:uFillTx/>
              <a:latin typeface="Calibri"/>
            </a:endParaRPr>
          </a:p>
        </p:txBody>
      </p:sp>
      <p:sp>
        <p:nvSpPr>
          <p:cNvPr id="322" name="Rectangle 4"/>
          <p:cNvSpPr/>
          <p:nvPr/>
        </p:nvSpPr>
        <p:spPr>
          <a:xfrm>
            <a:off x="523800" y="1257480"/>
            <a:ext cx="7095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2250" b="1" u="none" strike="noStrike">
                <a:solidFill>
                  <a:srgbClr val="A9002B"/>
                </a:solidFill>
                <a:effectLst/>
                <a:uFillTx/>
                <a:latin typeface="Calibri"/>
                <a:ea typeface="Calibri"/>
              </a:rPr>
              <a:t> Bilan général</a:t>
            </a:r>
            <a:endParaRPr lang="fr-F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5"/>
          <p:cNvSpPr/>
          <p:nvPr/>
        </p:nvSpPr>
        <p:spPr>
          <a:xfrm>
            <a:off x="857160" y="1790640"/>
            <a:ext cx="6476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algn="ctr" defTabSz="914400">
              <a:lnSpc>
                <a:spcPct val="100000"/>
              </a:lnSpc>
            </a:pPr>
            <a:r>
              <a:rPr lang="fr-FR" sz="12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Une démarche fondée sur la preuve, la reproductibilité et la validation</a:t>
            </a:r>
            <a:endParaRPr lang="fr-F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6"/>
          <p:cNvSpPr/>
          <p:nvPr/>
        </p:nvSpPr>
        <p:spPr>
          <a:xfrm>
            <a:off x="76320" y="6477120"/>
            <a:ext cx="666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 defTabSz="914400">
              <a:lnSpc>
                <a:spcPct val="100000"/>
              </a:lnSpc>
            </a:pPr>
            <a:r>
              <a:rPr lang="fr-FR" sz="980" b="1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30/30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7"/>
          <p:cNvSpPr/>
          <p:nvPr/>
        </p:nvSpPr>
        <p:spPr>
          <a:xfrm>
            <a:off x="5715000" y="6477120"/>
            <a:ext cx="2190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 fontScale="55000" lnSpcReduction="19999"/>
          </a:bodyPr>
          <a:p>
            <a:endParaRPr lang="fr-FR" sz="980" b="1" u="none" strike="noStrike">
              <a:solidFill>
                <a:srgbClr val="111111"/>
              </a:solidFill>
              <a:effectLst/>
              <a:uFillTx/>
              <a:latin typeface="Calibri"/>
            </a:endParaRPr>
          </a:p>
        </p:txBody>
      </p:sp>
      <p:sp>
        <p:nvSpPr>
          <p:cNvPr id="326" name="Rectangle 8"/>
          <p:cNvSpPr/>
          <p:nvPr/>
        </p:nvSpPr>
        <p:spPr>
          <a:xfrm>
            <a:off x="1095480" y="2333520"/>
            <a:ext cx="619092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57240" bIns="38160" anchor="t">
            <a:normAutofit/>
          </a:bodyPr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 laboratoire fournit une base reproductible pour comparer une application vulnérable et sa copie corrigée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preuves confirment plusieurs effets sur les injections, le navigateur, les fichiers et la cryptographie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Les essais incomplets restent clairement séparés des résultats confirmés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La poursuite du projet couvre les niveaux medium, high et impossible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 defTabSz="914400">
              <a:lnSpc>
                <a:spcPct val="100000"/>
              </a:lnSpc>
              <a:spcAft>
                <a:spcPts val="1301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fr-FR" sz="158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Un correctif sera retenu si l'attaque échoue et si l'usage légitime reste fonctionnel</a:t>
            </a:r>
            <a:endParaRPr lang="fr-FR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LibreOffice_project/620$Build-2</Application>
  <AppVersion>15.0000</AppVersion>
  <Words>3514</Words>
  <Paragraphs>314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2026-09-15T14:14:39Z</dcterms:created>
  <dc:creator>Walnut Exporter</dc:creator>
  <dc:description/>
  <dc:language>fr-FR</dc:language>
  <cp:lastModifiedBy/>
  <dcterms:modified xsi:type="dcterms:W3CDTF">2026-09-16T17:54:52Z</dcterms:modified>
  <cp:revision>4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Affichage à l'écran (4:3)</vt:lpwstr>
  </property>
  <property fmtid="{D5CDD505-2E9C-101B-9397-08002B2CF9AE}" pid="4" name="Slides">
    <vt:i4>30</vt:i4>
  </property>
</Properties>
</file>